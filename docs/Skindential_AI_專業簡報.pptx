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30384" y="0"/>
            <a:ext cx="2258568" cy="6858000"/>
          </a:xfrm>
          <a:prstGeom prst="rect">
            <a:avLst/>
          </a:prstGeom>
          <a:solidFill>
            <a:srgbClr val="F2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AB5"/>
                </a:solidFill>
                <a:latin typeface="Microsoft JhengHei"/>
              </a:rPr>
              <a:t>SKINDENTIAL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B2B5C"/>
                </a:solidFill>
                <a:latin typeface="Microsoft JhengHei"/>
              </a:rPr>
              <a:t>膚況檢測系統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090672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32A33"/>
                </a:solidFill>
                <a:latin typeface="Microsoft JhengHei"/>
              </a:rPr>
              <a:t>從微小病灶辨識到 Edge AI 商業化落地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3858768"/>
            <a:ext cx="2359152" cy="0"/>
          </a:xfrm>
          <a:prstGeom prst="line">
            <a:avLst/>
          </a:prstGeom>
          <a:ln w="50800">
            <a:solidFill>
              <a:srgbClr val="2AA7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32688" y="41605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36B74"/>
                </a:solidFill>
                <a:latin typeface="Microsoft JhengHei"/>
              </a:rPr>
              <a:t>雙路推論架構 × 臨床特徵重組 × 邊緣部署</a:t>
            </a:r>
          </a:p>
        </p:txBody>
      </p:sp>
      <p:sp>
        <p:nvSpPr>
          <p:cNvPr id="9" name="Oval 8"/>
          <p:cNvSpPr/>
          <p:nvPr/>
        </p:nvSpPr>
        <p:spPr>
          <a:xfrm>
            <a:off x="10479024" y="1581912"/>
            <a:ext cx="1170432" cy="1170432"/>
          </a:xfrm>
          <a:prstGeom prst="ellipse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9024" y="1581912"/>
            <a:ext cx="117043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AI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14432" y="3172968"/>
            <a:ext cx="1481328" cy="0"/>
          </a:xfrm>
          <a:prstGeom prst="line">
            <a:avLst/>
          </a:prstGeom>
          <a:ln w="25400">
            <a:solidFill>
              <a:srgbClr val="2AA7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87000" y="3474720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B2B5C"/>
                </a:solidFill>
                <a:latin typeface="Microsoft JhengHei"/>
              </a:rPr>
              <a:t>320%+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2992" y="40690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36B74"/>
                </a:solidFill>
                <a:latin typeface="Microsoft JhengHei"/>
              </a:rPr>
              <a:t>mAP50 綜合提升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9436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36B74"/>
                </a:solidFill>
                <a:latin typeface="Microsoft JhengHei"/>
              </a:rPr>
              <a:t>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AB5"/>
                </a:solidFill>
                <a:latin typeface="Microsoft JhengHe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B2B5C"/>
                </a:solidFill>
                <a:latin typeface="Microsoft JhengHei"/>
              </a:rPr>
              <a:t>技術重構，讓精準度與部署可行性同步成立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444752"/>
            <a:ext cx="107624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6B74"/>
                </a:solidFill>
                <a:latin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6596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B2B5C"/>
                </a:solidFill>
                <a:latin typeface="Microsoft JhengHei"/>
              </a:rPr>
              <a:t>320%+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443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36B74"/>
                </a:solidFill>
                <a:latin typeface="Microsoft JhengHei"/>
              </a:rPr>
              <a:t>mAP50 相較初期架構的綜合提升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7760" y="1883664"/>
            <a:ext cx="0" cy="3282696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40680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AB5"/>
                </a:solidFill>
                <a:latin typeface="Microsoft JhengHei"/>
              </a:rPr>
              <a:t>兩個根本問題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46888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2A33"/>
                </a:solidFill>
                <a:latin typeface="Microsoft JhengHei"/>
              </a:rPr>
              <a:t>微小病灶在降採樣中消失</a:t>
            </a:r>
            <a:br/>
            <a:r>
              <a:rPr sz="2000" b="0">
                <a:solidFill>
                  <a:srgbClr val="232A33"/>
                </a:solidFill>
                <a:latin typeface="Microsoft JhengHei"/>
              </a:rPr>
              <a:t>臨床標記重疊，造成分類猶豫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794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AB5"/>
                </a:solidFill>
                <a:latin typeface="Microsoft JhengHei"/>
              </a:rPr>
              <a:t>一個核心解法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434340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32A33"/>
                </a:solidFill>
                <a:latin typeface="Microsoft JhengHei"/>
              </a:rPr>
              <a:t>大／小面積雙路推論，搭配 5 大臨床特徵群組，兼顧解析度、準確度與硬體負擔。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AB5"/>
                </a:solidFill>
                <a:latin typeface="Microsoft JhengHei"/>
              </a:rPr>
              <a:t>WHY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B2B5C"/>
                </a:solidFill>
                <a:latin typeface="Microsoft JhengHei"/>
              </a:rPr>
              <a:t>傳統單一路徑，同時卡在解析度、算力與標記歧義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444752"/>
            <a:ext cx="107624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6B74"/>
                </a:solidFill>
                <a:latin typeface="Microsoft Jheng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AA7D9"/>
                </a:solidFill>
                <a:latin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B5C"/>
                </a:solidFill>
                <a:latin typeface="Microsoft JhengHei"/>
              </a:rPr>
              <a:t>特徵遺失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901952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2A33"/>
                </a:solidFill>
                <a:latin typeface="Microsoft JhengHei"/>
              </a:rPr>
              <a:t>1920×1440 原圖中的病灶可能僅約 5×5 px；縮至 640×640 後容易成為次像素雜訊。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743200"/>
            <a:ext cx="10332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3375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AA7D9"/>
                </a:solidFill>
                <a:latin typeface="Microsoft Jheng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3375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B5C"/>
                </a:solidFill>
                <a:latin typeface="Microsoft JhengHei"/>
              </a:rPr>
              <a:t>硬體受限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319272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2A33"/>
                </a:solidFill>
                <a:latin typeface="Microsoft JhengHei"/>
              </a:rPr>
              <a:t>直接以 1920×1920 推論會帶來高浮點運算與 VRAM 峰值，難以落地輕量 NPU／Jetson。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160520"/>
            <a:ext cx="10332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7548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AA7D9"/>
                </a:solidFill>
                <a:latin typeface="Microsoft Jheng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7548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B5C"/>
                </a:solidFill>
                <a:latin typeface="Microsoft JhengHei"/>
              </a:rPr>
              <a:t>標記歧義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4736592"/>
            <a:ext cx="6492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2A33"/>
                </a:solidFill>
                <a:latin typeface="Microsoft JhengHei"/>
              </a:rPr>
              <a:t>原始資料含 59 種標記，細分類視覺高度重疊，造成模型難以收斂並壓低 Recall。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5577840"/>
            <a:ext cx="10332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AB5"/>
                </a:solidFill>
                <a:latin typeface="Microsoft JhengHei"/>
              </a:rPr>
              <a:t>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B2B5C"/>
                </a:solidFill>
                <a:latin typeface="Microsoft JhengHei"/>
              </a:rPr>
              <a:t>三階段迭代，把「看得清」轉化為「辨得準」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444752"/>
            <a:ext cx="107624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6B74"/>
                </a:solidFill>
                <a:latin typeface="Microsoft JhengHei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72768" y="3584448"/>
            <a:ext cx="8988552" cy="0"/>
          </a:xfrm>
          <a:prstGeom prst="line">
            <a:avLst/>
          </a:prstGeom>
          <a:ln w="762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527048" y="3236976"/>
            <a:ext cx="694944" cy="694944"/>
          </a:xfrm>
          <a:prstGeom prst="ellipse">
            <a:avLst/>
          </a:prstGeom>
          <a:solidFill>
            <a:srgbClr val="1F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7048" y="3236976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" y="199339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全尺度直推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1" y="4160520"/>
            <a:ext cx="314553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2A33"/>
                </a:solidFill>
                <a:latin typeface="Microsoft JhengHei"/>
              </a:rPr>
              <a:t>微小病灶特徵流失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" y="50749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36B74"/>
                </a:solidFill>
                <a:latin typeface="Microsoft JhengHei"/>
              </a:rPr>
              <a:t>mAP50 偏低</a:t>
            </a:r>
          </a:p>
        </p:txBody>
      </p:sp>
      <p:sp>
        <p:nvSpPr>
          <p:cNvPr id="12" name="Oval 11"/>
          <p:cNvSpPr/>
          <p:nvPr/>
        </p:nvSpPr>
        <p:spPr>
          <a:xfrm>
            <a:off x="5751576" y="3236976"/>
            <a:ext cx="694944" cy="694944"/>
          </a:xfrm>
          <a:prstGeom prst="ellipse">
            <a:avLst/>
          </a:prstGeom>
          <a:solidFill>
            <a:srgbClr val="1F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51576" y="3236976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99339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高解析切片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160520"/>
            <a:ext cx="314553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2A33"/>
                </a:solidFill>
                <a:latin typeface="Microsoft JhengHei"/>
              </a:rPr>
              <a:t>Precision 提升，但分類仍混淆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50749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36B74"/>
                </a:solidFill>
                <a:latin typeface="Microsoft JhengHei"/>
              </a:rPr>
              <a:t>Recall 未改善</a:t>
            </a:r>
          </a:p>
        </p:txBody>
      </p:sp>
      <p:sp>
        <p:nvSpPr>
          <p:cNvPr id="17" name="Oval 16"/>
          <p:cNvSpPr/>
          <p:nvPr/>
        </p:nvSpPr>
        <p:spPr>
          <a:xfrm>
            <a:off x="9939528" y="3236976"/>
            <a:ext cx="694944" cy="694944"/>
          </a:xfrm>
          <a:prstGeom prst="ellipse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9528" y="3236976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993392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雙路＋群組重組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4160520"/>
            <a:ext cx="314553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2A33"/>
                </a:solidFill>
                <a:latin typeface="Microsoft JhengHei"/>
              </a:rPr>
              <a:t>宏觀與微觀解耦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0749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D8F7A"/>
                </a:solidFill>
                <a:latin typeface="Microsoft JhengHei"/>
              </a:rPr>
              <a:t>全面提升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AB5"/>
                </a:solidFill>
                <a:latin typeface="Microsoft JhengHei"/>
              </a:rPr>
              <a:t>DUAL-PATH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B2B5C"/>
                </a:solidFill>
                <a:latin typeface="Microsoft JhengHei"/>
              </a:rPr>
              <a:t>雙路推論：全局判讀與局部精檢各司其職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444752"/>
            <a:ext cx="107624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6B74"/>
                </a:solidFill>
                <a:latin typeface="Microsoft JhengHe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95728"/>
            <a:ext cx="2148840" cy="1956816"/>
          </a:xfrm>
          <a:prstGeom prst="roundRect">
            <a:avLst/>
          </a:prstGeom>
          <a:solidFill>
            <a:srgbClr val="F2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2B5C"/>
                </a:solidFill>
                <a:latin typeface="Microsoft JhengHei"/>
              </a:rPr>
              <a:t>原始臉部影像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36B74"/>
                </a:solidFill>
                <a:latin typeface="Microsoft JhengHei"/>
              </a:rPr>
              <a:t>1920 × 1440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62072" y="3364992"/>
            <a:ext cx="1024128" cy="0"/>
          </a:xfrm>
          <a:prstGeom prst="line">
            <a:avLst/>
          </a:prstGeom>
          <a:ln w="38100">
            <a:solidFill>
              <a:srgbClr val="1F6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886200" y="2514600"/>
            <a:ext cx="0" cy="850392"/>
          </a:xfrm>
          <a:prstGeom prst="line">
            <a:avLst/>
          </a:prstGeom>
          <a:ln w="38100">
            <a:solidFill>
              <a:srgbClr val="1F6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86200" y="3364992"/>
            <a:ext cx="0" cy="1344168"/>
          </a:xfrm>
          <a:prstGeom prst="line">
            <a:avLst/>
          </a:prstGeom>
          <a:ln w="38100">
            <a:solidFill>
              <a:srgbClr val="2AA7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1920240"/>
            <a:ext cx="3794760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7627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6AB5"/>
                </a:solidFill>
                <a:latin typeface="Microsoft JhengHei"/>
              </a:rPr>
              <a:t>MACRO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60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適度縮放｜全局特徵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1752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36B74"/>
                </a:solidFill>
                <a:latin typeface="Microsoft JhengHei"/>
              </a:rPr>
              <a:t>黑眼圈・抬頭紋・大面積泛紅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886200"/>
            <a:ext cx="3794760" cy="1673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133087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A7D9"/>
                </a:solidFill>
                <a:latin typeface="Microsoft JhengHei"/>
              </a:rPr>
              <a:t>MICRO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1713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網格切片｜局部高解析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9926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36B74"/>
                </a:solidFill>
                <a:latin typeface="Microsoft JhengHei"/>
              </a:rPr>
              <a:t>微小瑕疵・座標重映射・五大群組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38160" y="2670048"/>
            <a:ext cx="1051560" cy="0"/>
          </a:xfrm>
          <a:prstGeom prst="line">
            <a:avLst/>
          </a:prstGeom>
          <a:ln w="38100">
            <a:solidFill>
              <a:srgbClr val="1F6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138160" y="4718304"/>
            <a:ext cx="1051560" cy="0"/>
          </a:xfrm>
          <a:prstGeom prst="line">
            <a:avLst/>
          </a:prstGeom>
          <a:ln w="38100">
            <a:solidFill>
              <a:srgbClr val="2AA7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64040" y="2761488"/>
            <a:ext cx="1920240" cy="1901952"/>
          </a:xfrm>
          <a:prstGeom prst="roundRect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3108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融合輸出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3822191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icrosoft JhengHei"/>
              </a:rPr>
              <a:t>穩定｜精準｜可部署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AB5"/>
                </a:solidFill>
                <a:latin typeface="Microsoft JhengHei"/>
              </a:rPr>
              <a:t>CLINICAL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B2B5C"/>
                </a:solidFill>
                <a:latin typeface="Microsoft JhengHei"/>
              </a:rPr>
              <a:t>59 種模糊標記，重組為 5 大臨床特徵群組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444752"/>
            <a:ext cx="107624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6B74"/>
                </a:solidFill>
                <a:latin typeface="Microsoft Jheng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AA7D9"/>
                </a:solidFill>
                <a:latin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0195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發炎性痘痘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9202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2A33"/>
                </a:solidFill>
                <a:latin typeface="Microsoft JhengHei"/>
              </a:rPr>
              <a:t>丘疹・囊腫・膿皰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2478024"/>
            <a:ext cx="1022299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808" y="27706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AA7D9"/>
                </a:solidFill>
                <a:latin typeface="Microsoft Jheng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77063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非發炎粉刺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7889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2A33"/>
                </a:solidFill>
                <a:latin typeface="Microsoft JhengHei"/>
              </a:rPr>
              <a:t>閉鎖／開放粉刺・栗粒腫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8" y="3346704"/>
            <a:ext cx="1022299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9808" y="363931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AA7D9"/>
                </a:solidFill>
                <a:latin typeface="Microsoft Jheng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63931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色素與痘印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6576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2A33"/>
                </a:solidFill>
                <a:latin typeface="Microsoft JhengHei"/>
              </a:rPr>
              <a:t>痘印・雀斑・日曬斑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4215384"/>
            <a:ext cx="1022299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" y="45079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AA7D9"/>
                </a:solidFill>
                <a:latin typeface="Microsoft Jheng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0799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凹痘坑與疤痕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526279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2A33"/>
                </a:solidFill>
                <a:latin typeface="Microsoft JhengHei"/>
              </a:rPr>
              <a:t>痘坑・凹洞・水痘疤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8" y="5084064"/>
            <a:ext cx="1022299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808" y="537667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AA7D9"/>
                </a:solidFill>
                <a:latin typeface="Microsoft Jheng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37667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血管與紅斑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5394959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32A33"/>
                </a:solidFill>
                <a:latin typeface="Microsoft JhengHei"/>
              </a:rPr>
              <a:t>微血管擴張・小紅疹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9808" y="5952744"/>
            <a:ext cx="1022299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9808" y="60533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D8F7A"/>
                </a:solidFill>
                <a:latin typeface="Microsoft JhengHei"/>
              </a:rPr>
              <a:t>效果：減少分類猶豫，讓模型專注判斷「病灶是否存在」。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AB5"/>
                </a:solidFill>
                <a:latin typeface="Microsoft JhengHei"/>
              </a:rPr>
              <a:t>MODEL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B2B5C"/>
                </a:solidFill>
                <a:latin typeface="Microsoft JhengHei"/>
              </a:rPr>
              <a:t>三項訓練策略，補足資料、邊界與紋理品質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444752"/>
            <a:ext cx="107624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6B74"/>
                </a:solidFill>
                <a:latin typeface="Microsoft Jheng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6596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AA7D9"/>
                </a:solidFill>
                <a:latin typeface="Microsoft JhengHei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" y="2514600"/>
            <a:ext cx="2880359" cy="0"/>
          </a:xfrm>
          <a:prstGeom prst="line">
            <a:avLst/>
          </a:prstGeom>
          <a:ln w="38100">
            <a:solidFill>
              <a:srgbClr val="1F6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2852928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B5C"/>
                </a:solidFill>
                <a:latin typeface="Microsoft JhengHei"/>
              </a:rPr>
              <a:t>資料集精細擴增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767328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2A33"/>
                </a:solidFill>
                <a:latin typeface="Microsoft JhengHei"/>
              </a:rPr>
              <a:t>自動切片與座標重映射，將原始影像擴展為數萬張高品質局部樣本。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6596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AA7D9"/>
                </a:solidFill>
                <a:latin typeface="Microsoft JhengHei"/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98848" y="2514600"/>
            <a:ext cx="2880360" cy="0"/>
          </a:xfrm>
          <a:prstGeom prst="line">
            <a:avLst/>
          </a:prstGeom>
          <a:ln w="38100">
            <a:solidFill>
              <a:srgbClr val="1F6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98848" y="2852928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B5C"/>
                </a:solidFill>
                <a:latin typeface="Microsoft JhengHei"/>
              </a:rPr>
              <a:t>DFL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767328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2A33"/>
                </a:solidFill>
                <a:latin typeface="Microsoft JhengHei"/>
              </a:rPr>
              <a:t>提高 Distribution Focal Loss 權重，強化次像素級病灶邊界定位。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1965960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AA7D9"/>
                </a:solidFill>
                <a:latin typeface="Microsoft JhengHei"/>
              </a:rPr>
              <a:t>03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4464" y="2514600"/>
            <a:ext cx="2880360" cy="0"/>
          </a:xfrm>
          <a:prstGeom prst="line">
            <a:avLst/>
          </a:prstGeom>
          <a:ln w="38100">
            <a:solidFill>
              <a:srgbClr val="1F6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84464" y="2852928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B5C"/>
                </a:solidFill>
                <a:latin typeface="Microsoft JhengHei"/>
              </a:rPr>
              <a:t>增強策略調整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3767328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2A33"/>
                </a:solidFill>
                <a:latin typeface="Microsoft JhengHei"/>
              </a:rPr>
              <a:t>保留幾何翻轉與馬賽克；關閉造成微小紋理混濁的增強手法。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AB5"/>
                </a:solidFill>
                <a:latin typeface="Microsoft JhengHei"/>
              </a:rPr>
              <a:t>PERFORMANCE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B2B5C"/>
                </a:solidFill>
                <a:latin typeface="Microsoft JhengHei"/>
              </a:rPr>
              <a:t>最終架構在三項核心指標全面領先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444752"/>
            <a:ext cx="107624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6B74"/>
                </a:solidFill>
                <a:latin typeface="Microsoft Jheng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mAP50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65960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36B74"/>
                </a:solidFill>
                <a:latin typeface="Microsoft JhengHei"/>
              </a:rPr>
              <a:t>5.41%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2011679"/>
            <a:ext cx="711117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69080" y="2011679"/>
            <a:ext cx="2296344" cy="256032"/>
          </a:xfrm>
          <a:prstGeom prst="rect">
            <a:avLst/>
          </a:prstGeom>
          <a:solidFill>
            <a:srgbClr val="1F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196596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2B5C"/>
                </a:solidFill>
                <a:latin typeface="Microsoft JhengHei"/>
              </a:rPr>
              <a:t>17.47%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1965960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D8F7A"/>
                </a:solidFill>
                <a:latin typeface="Microsoft JhengHei"/>
              </a:rPr>
              <a:t>+223%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91839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36B74"/>
                </a:solidFill>
                <a:latin typeface="Microsoft JhengHei"/>
              </a:rPr>
              <a:t>12.68%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3337559"/>
            <a:ext cx="1666722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80" y="3337559"/>
            <a:ext cx="3237490" cy="256032"/>
          </a:xfrm>
          <a:prstGeom prst="rect">
            <a:avLst/>
          </a:prstGeom>
          <a:solidFill>
            <a:srgbClr val="1F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3291839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2B5C"/>
                </a:solidFill>
                <a:latin typeface="Microsoft JhengHei"/>
              </a:rPr>
              <a:t>24.63%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3291839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D8F7A"/>
                </a:solidFill>
                <a:latin typeface="Microsoft JhengHei"/>
              </a:rPr>
              <a:t>+94%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617720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36B74"/>
                </a:solidFill>
                <a:latin typeface="Microsoft JhengHei"/>
              </a:rPr>
              <a:t>19.14%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4663440"/>
            <a:ext cx="2515857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69080" y="4663440"/>
            <a:ext cx="3708063" cy="256032"/>
          </a:xfrm>
          <a:prstGeom prst="rect">
            <a:avLst/>
          </a:prstGeom>
          <a:solidFill>
            <a:srgbClr val="1F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4617720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2B5C"/>
                </a:solidFill>
                <a:latin typeface="Microsoft JhengHei"/>
              </a:rPr>
              <a:t>28.21%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4617720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D8F7A"/>
                </a:solidFill>
                <a:latin typeface="Microsoft JhengHei"/>
              </a:rPr>
              <a:t>+47%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807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6B74"/>
                </a:solidFill>
                <a:latin typeface="Microsoft JhengHei"/>
              </a:rPr>
              <a:t>註：mAP50 最終值約為初期的 3.2 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AB5"/>
                </a:solidFill>
                <a:latin typeface="Microsoft JhengHei"/>
              </a:rPr>
              <a:t>EDGE AI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B2B5C"/>
                </a:solidFill>
                <a:latin typeface="Microsoft JhengHei"/>
              </a:rPr>
              <a:t>邊緣部署以平行調度降低峰值記憶體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444752"/>
            <a:ext cx="107624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6B74"/>
                </a:solidFill>
                <a:latin typeface="Microsoft Jheng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AA7D9"/>
                </a:solidFill>
                <a:latin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0195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B5C"/>
                </a:solidFill>
                <a:latin typeface="Microsoft JhengHei"/>
              </a:rPr>
              <a:t>異步雙路平行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87168"/>
            <a:ext cx="6949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2A33"/>
                </a:solidFill>
                <a:latin typeface="Microsoft JhengHei"/>
              </a:rPr>
              <a:t>全局路徑與切片路徑分離執行，避免單一超高解析推論造成 VRAM 峰值。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429000"/>
            <a:ext cx="78638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913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AA7D9"/>
                </a:solidFill>
                <a:latin typeface="Microsoft Jheng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B5C"/>
                </a:solidFill>
                <a:latin typeface="Microsoft JhengHei"/>
              </a:rPr>
              <a:t>動態置信度門檻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434840"/>
            <a:ext cx="6949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2A33"/>
                </a:solidFill>
                <a:latin typeface="Microsoft JhengHei"/>
              </a:rPr>
              <a:t>依場景調整 Confidence Threshold，在瑕疵捕捉率與背景誤判率之間取得平衡。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920240"/>
            <a:ext cx="1920240" cy="3154680"/>
          </a:xfrm>
          <a:prstGeom prst="roundRect">
            <a:avLst/>
          </a:prstGeom>
          <a:solidFill>
            <a:srgbClr val="F2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226771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AB5"/>
                </a:solidFill>
                <a:latin typeface="Microsoft JhengHei"/>
              </a:rPr>
              <a:t>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8048" y="2971800"/>
            <a:ext cx="132588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2B5C"/>
                </a:solidFill>
                <a:latin typeface="Microsoft JhengHei"/>
              </a:rPr>
              <a:t>NPU</a:t>
            </a:r>
            <a:br/>
            <a:r>
              <a:rPr sz="2400" b="1">
                <a:solidFill>
                  <a:srgbClr val="0B2B5C"/>
                </a:solidFill>
                <a:latin typeface="Microsoft JhengHei"/>
              </a:rPr>
              <a:t>／</a:t>
            </a:r>
            <a:br/>
            <a:r>
              <a:rPr sz="2400" b="1">
                <a:solidFill>
                  <a:srgbClr val="0B2B5C"/>
                </a:solidFill>
                <a:latin typeface="Microsoft JhengHei"/>
              </a:rPr>
              <a:t>Jetson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931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6AB5"/>
                </a:solidFill>
                <a:latin typeface="Microsoft JhengHei"/>
              </a:rPr>
              <a:t>RECOMMENDED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B2B5C"/>
                </a:solidFill>
                <a:latin typeface="Microsoft JhengHei"/>
              </a:rPr>
              <a:t>下一步：用端雲數據循環持續拉高技術上限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444752"/>
            <a:ext cx="1076248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972800" y="64008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36B74"/>
                </a:solidFill>
                <a:latin typeface="Microsoft JhengHei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17320" y="3584448"/>
            <a:ext cx="9281160" cy="0"/>
          </a:xfrm>
          <a:prstGeom prst="line">
            <a:avLst/>
          </a:prstGeom>
          <a:ln w="635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06424" y="3273552"/>
            <a:ext cx="621792" cy="621792"/>
          </a:xfrm>
          <a:prstGeom prst="ellipse">
            <a:avLst/>
          </a:prstGeom>
          <a:solidFill>
            <a:srgbClr val="1F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3273552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84831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" y="4224528"/>
            <a:ext cx="2596896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32A33"/>
                </a:solidFill>
                <a:latin typeface="Microsoft JhengHei"/>
              </a:rPr>
              <a:t>建立雙路異步推論</a:t>
            </a:r>
            <a:br/>
            <a:r>
              <a:rPr sz="1600" b="0">
                <a:solidFill>
                  <a:srgbClr val="232A33"/>
                </a:solidFill>
                <a:latin typeface="Microsoft JhengHei"/>
              </a:rPr>
              <a:t>與設備效能基線</a:t>
            </a:r>
          </a:p>
        </p:txBody>
      </p:sp>
      <p:sp>
        <p:nvSpPr>
          <p:cNvPr id="11" name="Oval 10"/>
          <p:cNvSpPr/>
          <p:nvPr/>
        </p:nvSpPr>
        <p:spPr>
          <a:xfrm>
            <a:off x="4123944" y="3273552"/>
            <a:ext cx="621792" cy="621792"/>
          </a:xfrm>
          <a:prstGeom prst="ellipse">
            <a:avLst/>
          </a:prstGeom>
          <a:solidFill>
            <a:srgbClr val="1F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23944" y="3273552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2084831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校準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1" y="4224528"/>
            <a:ext cx="2596896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32A33"/>
                </a:solidFill>
                <a:latin typeface="Microsoft JhengHei"/>
              </a:rPr>
              <a:t>依實際場景調整</a:t>
            </a:r>
            <a:br/>
            <a:r>
              <a:rPr sz="1600" b="0">
                <a:solidFill>
                  <a:srgbClr val="232A33"/>
                </a:solidFill>
                <a:latin typeface="Microsoft JhengHei"/>
              </a:rPr>
              <a:t>置信度門檻</a:t>
            </a:r>
          </a:p>
        </p:txBody>
      </p:sp>
      <p:sp>
        <p:nvSpPr>
          <p:cNvPr id="15" name="Oval 14"/>
          <p:cNvSpPr/>
          <p:nvPr/>
        </p:nvSpPr>
        <p:spPr>
          <a:xfrm>
            <a:off x="7141464" y="3273552"/>
            <a:ext cx="621792" cy="621792"/>
          </a:xfrm>
          <a:prstGeom prst="ellipse">
            <a:avLst/>
          </a:prstGeom>
          <a:solidFill>
            <a:srgbClr val="1F6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1464" y="3273552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84831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回收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4224528"/>
            <a:ext cx="2596896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32A33"/>
                </a:solidFill>
                <a:latin typeface="Microsoft JhengHei"/>
              </a:rPr>
              <a:t>收集難判案例與</a:t>
            </a:r>
            <a:br/>
            <a:r>
              <a:rPr sz="1600" b="0">
                <a:solidFill>
                  <a:srgbClr val="232A33"/>
                </a:solidFill>
                <a:latin typeface="Microsoft JhengHei"/>
              </a:rPr>
              <a:t>Hard Negatives</a:t>
            </a:r>
          </a:p>
        </p:txBody>
      </p:sp>
      <p:sp>
        <p:nvSpPr>
          <p:cNvPr id="19" name="Oval 18"/>
          <p:cNvSpPr/>
          <p:nvPr/>
        </p:nvSpPr>
        <p:spPr>
          <a:xfrm>
            <a:off x="10158984" y="3273552"/>
            <a:ext cx="621792" cy="621792"/>
          </a:xfrm>
          <a:prstGeom prst="ellipse">
            <a:avLst/>
          </a:prstGeom>
          <a:solidFill>
            <a:srgbClr val="0B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58984" y="3273552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084831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B5C"/>
                </a:solidFill>
                <a:latin typeface="Microsoft JhengHei"/>
              </a:rPr>
              <a:t>迭代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4224528"/>
            <a:ext cx="2596896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32A33"/>
                </a:solidFill>
                <a:latin typeface="Microsoft JhengHei"/>
              </a:rPr>
              <a:t>週期性再訓練</a:t>
            </a:r>
            <a:br/>
            <a:r>
              <a:rPr sz="1600" b="0">
                <a:solidFill>
                  <a:srgbClr val="232A33"/>
                </a:solidFill>
                <a:latin typeface="Microsoft JhengHei"/>
              </a:rPr>
              <a:t>與指標驗證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76072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8F7A"/>
                </a:solidFill>
                <a:latin typeface="Microsoft JhengHei"/>
              </a:rPr>
              <a:t>目標：在可部署、可維運的前提下，持續推進準確度與產品體驗。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