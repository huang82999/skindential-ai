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各位長官，這份報告聚焦於 Skindential AI 膚況檢測從 Baseline YOLO 到雙路模型的技術重構歷程。核心價值是：我們沒有只調參數，而是重新設計模型觀看影像的尺度與分類任務。接下來 10 頁，我會依序帶大家看到問題本質、根本原因、技術方案與最終成果。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這一頁想傳達的是：問題不在使用者，而在模型看到的畫面。右邊 batch 圖可以看到大量非常小的紅色標記框，這些就是我們要偵測的痘痘與色斑。當 1920×1080 的原圖被縮放進 YOLO 時，這些微小病灶只剩幾個像素，特徵幾乎流失。下一頁我們看 Baseline 直接輸入 YOLO 的成績有多受限。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直接把整張臉部影像交給單一 YOLO 模型。從專案訓練紀錄可見，mAP50 峰值約 5.4%、Recall 僅 13.5%、Precision 約 28.7%。這代表模型偵測到的病灶不到 1/7，且看到的常常是錯的。問題有兩層：影像縮放讓小病灶消失，加上細分類的語義混淆。下一頁看到我們一度用調參試圖救回這條路，但結果進入平台期。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這頁的重點是：我們並不是沒試過調參。右邊這張訓練曲線來自 auto_opt_run_44。雖然 loss 有下降，但 mAP50 與 Recall 的絕對值卡在低檔，代表這條路徑已進入平台期。我們意識到問題不是參數不夠好，而是模型觀看影像的方式本身就有限制。下一頁分析真正的根本原因。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這一頁把根本原因收斂成兩件事。左側 — 影像尺度：原圖進入模型前的縮放，讓數像素的病灶特徵幾乎消失。右側 — 分類任務：類別太細、彼此語義相近，模型容易在相近類別間混淆或直接誤判為背景。這兩個問題都無法只靠調 LR 或 Loss 權重解決。下一頁我們展示因此設計出的完整技術流程。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這是整份報告的核心技術頁。原始影像進來後，會被前處理並同時走兩條路徑。Macro 模型處理整張影像，抓全局與大面積皮膚特徵；Micro 模型則將影像切成 480×480 高解析切片，把微小病灶的原始像素特徵保留下來。兩路結果分別偵測後，依切片座標重映射回原始影像座標，再整合重複框，最後統一輸出到五大臨床群組。下一頁我們看類別是如何被重新設計的。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將原本細粒度、彼此語義高度相似的多類別重整為五大臨床群組。這樣模型只需分辨臨床上真正需要區分的類別，混淆度顯著下降。右邊是標準化混淆矩陣，對角線越亮代表該群組辨識越穩定，從圖上可看出多數群組已能正確歸類，仍有部分群組間存在可見混淆，這是後續持續優化的線索。下一頁做 Baseline 與最終成果的直接對比。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直接對比 Baseline 與最終架構：mAP50 從 5.4% 提升到 17.5%，是 Baseline 的約 3.2 倍。Recall 從 13.5% 提升到 26.5%，代表能被抓到的病灶數量大約翻倍。Precision 也有穩定小幅提升。這不是連續指數成長，而是重新設計架構後所帶來的階段性突破。右邊 PR 曲線提供了完整的科學證據，涵蓋不同信心門檻下的整體表現。下一頁看實際預測與人工標記的視覺對照。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把驗證集同一批影像的人工標記與模型預測並排放。可以看到大部分明顯的痘痘、色斑，模型都成功抓到、位置也對得上人工標記。仍有一部分細小或邊界模糊的病灶存在差異，這也是我們持續優化的方向。視覺對照可以讓非 AI 背景的評審快速理解模型現在的表現水平。下一頁做整體技術貢獻的收斂。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總結三項技術貢獻：第一，透過高解析度切片，保留了原本會被縮放吞掉的微小病灶特徵；第二，透過臨床群組重組，降低了細分類彼此之間的語義混淆；第三，透過雙路推論，讓 Macro 與 Micro 各司其職，兼顧全局與細節。這三件事合在一起，才把 mAP50 從 5.4% 拉到 17.5%。這也回應了整份報告的核心訊息 — 真正的突破，不在參數，而在重新設計模型觀看影像的方式。感謝聆聽。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320040" cy="54864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</a:rPr>
              <a:t>Skindential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icrosoft JhengHei"/>
              </a:rPr>
              <a:t>膚況檢測技術分析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9A8"/>
                </a:solidFill>
                <a:latin typeface="Microsoft JhengHei"/>
              </a:rPr>
              <a:t>2026 · Internal Technical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3774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Microsoft JhengHei"/>
              </a:rPr>
              <a:t>重新設計模型觀看影像的尺度，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0175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6FB5"/>
                </a:solidFill>
                <a:latin typeface="Microsoft JhengHei"/>
              </a:rPr>
              <a:t>讓微小病灶不再被縮放吞沒。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840480"/>
            <a:ext cx="10972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977639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Macro + Micro 雙路推論 · 五大臨床群組 · 高解析度切片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使用情境 · Pain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肉眼可見的病灶，模型看到的卻只是幾個像素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Microsoft JhengHei"/>
              </a:rPr>
              <a:t>使用者上傳的臉部影像清晰完整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原始高解析度影像進入模型前，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會被縮放至訓練解析度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微小痘痘、色斑、疤痕面積本就小，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縮放後可能僅剩數個像素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訓練資料的 Bounding Box 分布顯示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大量標記集中在極小的框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4937760" cy="13716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F6FB5"/>
                </a:solidFill>
                <a:latin typeface="Microsoft JhengHei"/>
              </a:rPr>
              <a:t>微小 BBox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D4C5C"/>
                </a:solidFill>
                <a:latin typeface="Microsoft JhengHei"/>
              </a:rPr>
              <a:t>小型病灶佔比高，特徵易在縮放中流失</a:t>
            </a:r>
          </a:p>
        </p:txBody>
      </p:sp>
      <p:pic>
        <p:nvPicPr>
          <p:cNvPr id="15" name="Picture 14" descr="train_batch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4480560" cy="4480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60650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9A8"/>
                </a:solidFill>
                <a:latin typeface="Microsoft JhengHei"/>
              </a:rPr>
              <a:t>Baseline Batch — 微小 Bounding Box 分布 (blackbridge_yolo11m_1920/train_batch0)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Baseline · YOLO 原始方法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直接把原圖丟進 YOLO — 指標卡在低檔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Baseline 推論流程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20040" cy="54864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原始臉部影像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951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9A8"/>
                </a:solidFill>
                <a:latin typeface="Microsoft JhengHei"/>
              </a:rPr>
              <a:t>1920×1080 高解析輸入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320040" cy="54864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整張縮放至訓練尺寸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72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9A8"/>
                </a:solidFill>
                <a:latin typeface="Microsoft JhengHei"/>
              </a:rPr>
              <a:t>微小病灶特徵流失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39"/>
            <a:ext cx="320040" cy="54864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單一 YOLO 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962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9A8"/>
                </a:solidFill>
                <a:latin typeface="Microsoft JhengHei"/>
              </a:rPr>
              <a:t>同時看全局 + 局部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79"/>
            <a:ext cx="320040" cy="54864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7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多類別直接分類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2686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9A8"/>
                </a:solidFill>
                <a:latin typeface="Microsoft JhengHei"/>
              </a:rPr>
              <a:t>類別語義高度相似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Baseline 峰值指標 (auto_opt_run_44)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5212080" cy="32918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24028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E45756"/>
                </a:solidFill>
                <a:latin typeface="Microsoft JhengHei"/>
              </a:rPr>
              <a:t>5.4%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1752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D4C5C"/>
                </a:solidFill>
                <a:latin typeface="Microsoft JhengHei"/>
              </a:rPr>
              <a:t>mAP@50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24028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F6FB5"/>
                </a:solidFill>
                <a:latin typeface="Microsoft JhengHei"/>
              </a:rPr>
              <a:t>28.7%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01752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D4C5C"/>
                </a:solidFill>
                <a:latin typeface="Microsoft JhengHei"/>
              </a:rPr>
              <a:t>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24028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F6FB5"/>
                </a:solidFill>
                <a:latin typeface="Microsoft JhengHei"/>
              </a:rPr>
              <a:t>13.5%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01752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D4C5C"/>
                </a:solidFill>
                <a:latin typeface="Microsoft JhengHei"/>
              </a:rPr>
              <a:t>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0233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· 特徵流失 → 小病灶漏偵測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· 類別過細 → 分類模糊、易誤判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· 單一尺度 → 全局與局部無法兼顧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調參嘗試 · Plateau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調參可以微幅優化，卻換不到質變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團隊曾調整的方向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39112"/>
            <a:ext cx="137160" cy="13716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學習率排程 (LR / Warmup / Cosine)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87752"/>
            <a:ext cx="137160" cy="13716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Loss 權重 (box / cls / dfl)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1"/>
            <a:ext cx="137160" cy="13716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6323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資料增強策略 (Mosaic / HSV / Flip)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85031"/>
            <a:ext cx="137160" cy="13716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1187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訓練解析度與 Batch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4389120" cy="1554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B2A0"/>
                </a:solidFill>
                <a:latin typeface="Microsoft JhengHei"/>
              </a:rPr>
              <a:t>核心結論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單純調整超參數僅帶來邊際改動，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指標長期停留在低平台期，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必須回頭重新分析問題本質。</a:t>
            </a:r>
          </a:p>
        </p:txBody>
      </p:sp>
      <p:pic>
        <p:nvPicPr>
          <p:cNvPr id="22" name="Picture 21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263140"/>
            <a:ext cx="6309360" cy="3154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94960" y="6156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9A8"/>
                </a:solidFill>
                <a:latin typeface="Microsoft JhengHei"/>
              </a:rPr>
              <a:t>auto_opt_run_44 · 單次訓練 loss / metric 曲線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Root Cause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真正的瓶頸 — 影像尺度 × 分類任務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5486400" cy="5029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JhengHei"/>
              </a:rPr>
              <a:t>影像尺度問題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高解析原圖縮放後，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微小病灶特徵大量流失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單一模型難以同時兼顧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全局皮膚特徵 + 局部微小病灶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感受野設計偏向大物件，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對數像素級目標敏感度不足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486400" cy="42062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486400" cy="50292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JhengHei"/>
              </a:rPr>
              <a:t>標記與分類問題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原始類別數量多、顆粒度細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多類別外觀與臨床語義高度相似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(痘痘 vs 色斑 vs 疤痕)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· 模型容易在相近類別間搖擺，</a:t>
            </a:r>
          </a:p>
          <a:p>
            <a:pPr algn="l"/>
            <a:r>
              <a:rPr sz="1400" b="0">
                <a:solidFill>
                  <a:srgbClr val="3D4C5C"/>
                </a:solidFill>
                <a:latin typeface="Microsoft JhengHei"/>
              </a:rPr>
              <a:t>  或直接判成背景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97880"/>
            <a:ext cx="1124712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253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結論：瓶頸不是參數，而是「看的尺度」與「分的類別」— 需要重新設計，不是繼續調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雙路推論 — Macro 看全局，Micro 看細節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493476" cy="13716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200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原始臉部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影像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55676" y="2715768"/>
            <a:ext cx="127160" cy="146304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7836" y="2103120"/>
            <a:ext cx="1493476" cy="13716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7836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影像前處理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與路徑分流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86312" y="2715768"/>
            <a:ext cx="127160" cy="146304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18472" y="2103120"/>
            <a:ext cx="1493476" cy="137160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8472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Macro Model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全局 / 大面積特徵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72" y="3063240"/>
            <a:ext cx="1493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整張影像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16949" y="2715768"/>
            <a:ext cx="127160" cy="146304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9109" y="2103120"/>
            <a:ext cx="1493476" cy="137160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9109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Micro Model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480×480 高解析切片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109" y="3063240"/>
            <a:ext cx="1493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微小病灶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47585" y="2715768"/>
            <a:ext cx="127160" cy="146304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79745" y="2103120"/>
            <a:ext cx="1493476" cy="13716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9745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五大臨床群組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分類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478222" y="2715768"/>
            <a:ext cx="127160" cy="146304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10382" y="2103120"/>
            <a:ext cx="1493476" cy="13716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0382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切片座標重映射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＋ 重複框整合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108858" y="2715768"/>
            <a:ext cx="127160" cy="146304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018" y="2103120"/>
            <a:ext cx="1493476" cy="1371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1018" y="2286000"/>
            <a:ext cx="14334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完整膚況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辨識結果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18472" y="1874520"/>
            <a:ext cx="3124112" cy="91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8472" y="1508760"/>
            <a:ext cx="3124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2A4A"/>
                </a:solidFill>
                <a:latin typeface="Microsoft JhengHei"/>
              </a:rPr>
              <a:t>雙路平行推論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89120"/>
            <a:ext cx="11247120" cy="173736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Microsoft JhengHei"/>
              </a:rPr>
              <a:t>為什麼分兩條路？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4632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Macro Model</a:t>
            </a:r>
          </a:p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處理整張臉部的全局皮膚特徵（大面積色差、</a:t>
            </a:r>
          </a:p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區域性膚況），維持整體語意判斷。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Micro Model</a:t>
            </a:r>
          </a:p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以 480×480 切片保留微小病灶原始像素特徵；</a:t>
            </a:r>
          </a:p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偵測結果依切片座標重映射回原圖，並整合重複框。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Clinical Regrouping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把細分類收斂為五大臨床群組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五大臨床群組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2468880" cy="6858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665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Group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4086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痘痘 / 粉刺類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011680"/>
            <a:ext cx="2468880" cy="68580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0665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Group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4086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色素沉澱 / 斑點類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2468880" cy="6858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895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Group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疤痕 / 凹陷類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834640"/>
            <a:ext cx="2468880" cy="68580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8895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Group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6382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泛紅 / 發炎類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2468880" cy="6858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Group 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8678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其他膚況特徵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· 由細粒度多類別重整為五大群組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· 保留臨床可解釋性，降低語義重疊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· 模型專注群組層級判斷，混淆下降</a:t>
            </a:r>
          </a:p>
        </p:txBody>
      </p:sp>
      <p:pic>
        <p:nvPicPr>
          <p:cNvPr id="27" name="Picture 26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80210"/>
            <a:ext cx="5760720" cy="43205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35040" y="61564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9A8"/>
                </a:solidFill>
                <a:latin typeface="Microsoft JhengHei"/>
              </a:rPr>
              <a:t>Normalized Confusion Matrix — exp_5group_clinical_480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Baseline vs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架構重組後的階段性突破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JhengHei"/>
              </a:rPr>
              <a:t>峰值指標比較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874519" cy="23774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2A4A"/>
                </a:solidFill>
                <a:latin typeface="Microsoft JhengHei"/>
              </a:rPr>
              <a:t>mAP@50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99A8"/>
                </a:solidFill>
                <a:latin typeface="Microsoft JhengHei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E45756"/>
                </a:solidFill>
                <a:latin typeface="Microsoft JhengHei"/>
              </a:rPr>
              <a:t>5.4%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99A8"/>
                </a:solidFill>
                <a:latin typeface="Microsoft JhengHei"/>
              </a:rPr>
              <a:t>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8B2A0"/>
                </a:solidFill>
                <a:latin typeface="Microsoft JhengHei"/>
              </a:rPr>
              <a:t>17.5%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920240"/>
            <a:ext cx="1874519" cy="23774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01168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2A4A"/>
                </a:solidFill>
                <a:latin typeface="Microsoft JhengHei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33172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99A8"/>
                </a:solidFill>
                <a:latin typeface="Microsoft JhengHe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5603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E45756"/>
                </a:solidFill>
                <a:latin typeface="Microsoft JhengHei"/>
              </a:rPr>
              <a:t>28.7%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2004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99A8"/>
                </a:solidFill>
                <a:latin typeface="Microsoft JhengHei"/>
              </a:rPr>
              <a:t>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42900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8B2A0"/>
                </a:solidFill>
                <a:latin typeface="Microsoft JhengHei"/>
              </a:rPr>
              <a:t>30.6%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1920240"/>
            <a:ext cx="1874519" cy="23774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01168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2A4A"/>
                </a:solidFill>
                <a:latin typeface="Microsoft JhengHei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33172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99A8"/>
                </a:solidFill>
                <a:latin typeface="Microsoft JhengHei"/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5603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E45756"/>
                </a:solidFill>
                <a:latin typeface="Microsoft JhengHei"/>
              </a:rPr>
              <a:t>13.5%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004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99A8"/>
                </a:solidFill>
                <a:latin typeface="Microsoft JhengHei"/>
              </a:rPr>
              <a:t>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42900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8B2A0"/>
                </a:solidFill>
                <a:latin typeface="Microsoft JhengHei"/>
              </a:rPr>
              <a:t>26.5%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5852160" cy="1554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B2A0"/>
                </a:solidFill>
                <a:latin typeface="Microsoft JhengHei"/>
              </a:rPr>
              <a:t>如何解讀提升幅度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· mAP@50 : +12.1 個百分點 · 約為 Baseline 的 3.2 倍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· Recall   : +13.0 個百分點 · 約為 Baseline 的 2.0 倍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· Precision: +1.9 個百分點 · 穩定小幅提升</a:t>
            </a:r>
          </a:p>
        </p:txBody>
      </p:sp>
      <p:pic>
        <p:nvPicPr>
          <p:cNvPr id="32" name="Picture 31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33600"/>
            <a:ext cx="5120640" cy="3413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75120" y="6156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9A8"/>
                </a:solidFill>
                <a:latin typeface="Microsoft JhengHei"/>
              </a:rPr>
              <a:t>Precision–Recall Curve — exp_5group_clinical_480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Qualitative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Ground Truth 與 AI 預測 — 同一批影像對照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JhengHei"/>
              </a:rPr>
              <a:t>Ground Truth (人工標記)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B2A0"/>
                </a:solidFill>
                <a:latin typeface="Microsoft JhengHei"/>
              </a:rPr>
              <a:t>AI Predictions (模型預測)</a:t>
            </a:r>
          </a:p>
        </p:txBody>
      </p:sp>
      <p:pic>
        <p:nvPicPr>
          <p:cNvPr id="12" name="Picture 11" descr="val_batch0_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57400"/>
            <a:ext cx="4206240" cy="4206240"/>
          </a:xfrm>
          <a:prstGeom prst="rect">
            <a:avLst/>
          </a:prstGeom>
        </p:spPr>
      </p:pic>
      <p:pic>
        <p:nvPicPr>
          <p:cNvPr id="13" name="Picture 12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057400"/>
            <a:ext cx="4206240" cy="4206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48640" y="5989320"/>
            <a:ext cx="11247120" cy="4572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0167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D4C5C"/>
                </a:solidFill>
                <a:latin typeface="Microsoft JhengHei"/>
              </a:rPr>
              <a:t>模型在多數明顯病灶上與人工標記位置相符，仍有部分細小或邊界模糊區域存在差異。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926080" cy="54864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9A8"/>
                </a:solidFill>
                <a:latin typeface="Microsoft JhengHei"/>
              </a:rPr>
              <a:t>Skindential AI  |  Technical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9A8"/>
                </a:solidFill>
                <a:latin typeface="Microsoft JhengHe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Microsoft JhengHei"/>
              </a:rPr>
              <a:t>三項技術貢獻，形成本次突破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548640" cy="45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703320" cy="32918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3703320" cy="59436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高解析度切片保留微小病灶特徵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以 480×480 切片直接讀取原始像素，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避免縮放造成的細節流失。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703320" cy="32918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91640"/>
            <a:ext cx="3703320" cy="594360"/>
          </a:xfrm>
          <a:prstGeom prst="rect">
            <a:avLst/>
          </a:prstGeom>
          <a:solidFill>
            <a:srgbClr val="18B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臨床群組重組降低語義混淆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60320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將細粒度類別收斂為五大臨床群組，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讓模型專注於臨床上真正需要區分的差異。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91640"/>
            <a:ext cx="3703320" cy="329184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691640"/>
            <a:ext cx="3703320" cy="594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7830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雙路推論分工處理全局與局部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60320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Macro 看整張、Micro 看切片，</a:t>
            </a:r>
          </a:p>
          <a:p>
            <a:pPr algn="l"/>
            <a:r>
              <a:rPr sz="1300" b="0">
                <a:solidFill>
                  <a:srgbClr val="3D4C5C"/>
                </a:solidFill>
                <a:latin typeface="Microsoft JhengHei"/>
              </a:rPr>
              <a:t>再以座標重映射整合，兼顧視野與細節。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247120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B2A0"/>
                </a:solidFill>
                <a:latin typeface="Microsoft JhengHei"/>
              </a:rPr>
              <a:t>結語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本專案的突破不只是持續調整 YOLO 參數，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而是重新設計模型觀看影像的尺度、辨識類別與推論流程。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